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a4bc5e7-5844-b85f-aa8d-20a0fa9b1ed7}">
          <p14:sldIdLst>
            <p14:sldId id="256"/>
            <p14:sldId id="257"/>
          </p14:sldIdLst>
        </p14:section>
        <p14:section name="Solution" id="{532d7445-3e2a-c8fb-e900-79c0523fef84}">
          <p14:sldIdLst>
            <p14:sldId id="258"/>
            <p14:sldId id="259"/>
            <p14:sldId id="260"/>
            <p14:sldId id="261"/>
          </p14:sldIdLst>
        </p14:section>
        <p14:section name="Build" id="{4658e729-c771-502c-12aa-9064d47e4e21}">
          <p14:sldIdLst>
            <p14:sldId id="262"/>
            <p14:sldId id="263"/>
            <p14:sldId id="264"/>
          </p14:sldIdLst>
        </p14:section>
        <p14:section name="Wrap-up" id="{f5137a40-4bb1-b45f-f57a-27143ebdd860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frontend portal for reporting and tracking civic problems. The card on the right is a preview of what a citizen sees when tracking a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problem statement. The three issues on the right are the gaps the portal closes: reporting, feedback and visibility.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screens, one job each: report a problem, track it, and see everything that is reported.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portal ships with six categories. Each has a target fix time shown to the citizen so expectations are clear. These are defaults, not official service levels.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steps. Stress that there is no account or login: the ID is the key to a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stages. In this prototype a demo button advances the status to simulate the ward officer; in production officers would update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 that make the portal usable day to day. Mention that photos are compressed on the device so storage stays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is deliberately framework-free so it runs anywhere. Storage is the part that changes when a backend is added.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data model behind every complaint. Moving to a backend means these fields become database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prototype limits: data is stored per browser and the status button is a demo. Each row shows the production upgrade.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resolved card: the goal is that every reported problem reaches this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58521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Civic Issue Reporting Portal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PROJECT PRESENTATION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Civic Issue Reporting Portal</a:t>
            </a: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web portal where citizens report street-level problems and follow each complaint until it is fixed.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6" name="Complaint card"/>
          <p:cNvSpPr/>
          <p:nvPr/>
        </p:nvSpPr>
        <p:spPr>
          <a:xfrm>
            <a:off x="7223760" y="1737360"/>
            <a:ext cx="429768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CIV-2026-1041</a:t>
            </a:r>
            <a:endParaRPr lang="en-US" sz="1300" dirty="0"/>
          </a:p>
        </p:txBody>
      </p:sp>
      <p:sp>
        <p:nvSpPr>
          <p:cNvPr id="8" name="Status pill"/>
          <p:cNvSpPr/>
          <p:nvPr/>
        </p:nvSpPr>
        <p:spPr>
          <a:xfrm>
            <a:off x="9966960" y="2066544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1">
              <a:alpha val="40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66960" y="20665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In progress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2606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 pothole near the bus stop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Ward 12 · Station Road</a:t>
            </a:r>
            <a:endParaRPr lang="en-US" sz="1400" dirty="0"/>
          </a:p>
        </p:txBody>
      </p:sp>
      <p:sp>
        <p:nvSpPr>
          <p:cNvPr id="12" name="Timeline line"/>
          <p:cNvSpPr/>
          <p:nvPr/>
        </p:nvSpPr>
        <p:spPr>
          <a:xfrm>
            <a:off x="7818120" y="4251960"/>
            <a:ext cx="3017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3" name="Stage dot 1"/>
          <p:cNvSpPr/>
          <p:nvPr/>
        </p:nvSpPr>
        <p:spPr>
          <a:xfrm>
            <a:off x="7690104" y="412394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5" name="Stage dot 2"/>
          <p:cNvSpPr/>
          <p:nvPr/>
        </p:nvSpPr>
        <p:spPr>
          <a:xfrm>
            <a:off x="8695944" y="412394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Acknowledged</a:t>
            </a:r>
            <a:endParaRPr lang="en-US" sz="1100" dirty="0"/>
          </a:p>
        </p:txBody>
      </p:sp>
      <p:sp>
        <p:nvSpPr>
          <p:cNvPr id="17" name="Stage dot 3"/>
          <p:cNvSpPr/>
          <p:nvPr/>
        </p:nvSpPr>
        <p:spPr>
          <a:xfrm>
            <a:off x="9701784" y="4123944"/>
            <a:ext cx="256032" cy="256032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9" name="Stage dot 4"/>
          <p:cNvSpPr/>
          <p:nvPr/>
        </p:nvSpPr>
        <p:spPr>
          <a:xfrm>
            <a:off x="10707624" y="4123944"/>
            <a:ext cx="256032" cy="256032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3272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Resolved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Problem statement card"/>
          <p:cNvSpPr/>
          <p:nvPr/>
        </p:nvSpPr>
        <p:spPr>
          <a:xfrm>
            <a:off x="640080" y="1645920"/>
            <a:ext cx="4937760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65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2316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Create a frontend portal where citizens report problems such as potholes, leaking pipelines, broken street lights and waterlogging, and track complaint status.</a:t>
            </a:r>
            <a:endParaRPr lang="en-US" sz="2200" dirty="0"/>
          </a:p>
        </p:txBody>
      </p:sp>
      <p:sp>
        <p:nvSpPr>
          <p:cNvPr id="6" name="Badge No easy way to report"/>
          <p:cNvSpPr/>
          <p:nvPr/>
        </p:nvSpPr>
        <p:spPr>
          <a:xfrm>
            <a:off x="612648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No easy way to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790" y="1931670"/>
            <a:ext cx="388620" cy="3886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132320" y="164592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easy way to report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132320" y="205740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Citizens do not know where to send a pothole or a leaking pipe, so many problems stay unreported.</a:t>
            </a:r>
            <a:endParaRPr lang="en-US" sz="1500" dirty="0"/>
          </a:p>
        </p:txBody>
      </p:sp>
      <p:sp>
        <p:nvSpPr>
          <p:cNvPr id="10" name="Badge No feedback loop"/>
          <p:cNvSpPr/>
          <p:nvPr/>
        </p:nvSpPr>
        <p:spPr>
          <a:xfrm>
            <a:off x="6126480" y="320040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No feedback lo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33947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310896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feedback loop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132320" y="352044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Once a complaint is made it disappears. Nobody can see whether it was noticed or acted on.</a:t>
            </a:r>
            <a:endParaRPr lang="en-US" sz="1500" dirty="0"/>
          </a:p>
        </p:txBody>
      </p:sp>
      <p:sp>
        <p:nvSpPr>
          <p:cNvPr id="14" name="Badge No public visibility"/>
          <p:cNvSpPr/>
          <p:nvPr/>
        </p:nvSpPr>
        <p:spPr>
          <a:xfrm>
            <a:off x="6126480" y="466344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No public visibil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0790" y="4857750"/>
            <a:ext cx="388620" cy="3886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132320" y="4572000"/>
            <a:ext cx="4416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 public visibility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7132320" y="498348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Neighbours cannot see what is already reported, so the same problem is raised again and again.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</a:t>
            </a:r>
            <a:endParaRPr lang="en-US" sz="3600" dirty="0"/>
          </a:p>
        </p:txBody>
      </p:sp>
      <p:sp>
        <p:nvSpPr>
          <p:cNvPr id="3" name="Solution card 1"/>
          <p:cNvSpPr/>
          <p:nvPr/>
        </p:nvSpPr>
        <p:spPr>
          <a:xfrm>
            <a:off x="64008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Report"/>
          <p:cNvSpPr/>
          <p:nvPr/>
        </p:nvSpPr>
        <p:spPr>
          <a:xfrm>
            <a:off x="100584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2288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short form captures category, details, ward, landmark and an optional photo. Errors are explained next to the field.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REPORT AN ISSUE TAB</a:t>
            </a:r>
            <a:endParaRPr lang="en-US" sz="1100" dirty="0"/>
          </a:p>
        </p:txBody>
      </p:sp>
      <p:sp>
        <p:nvSpPr>
          <p:cNvPr id="9" name="Solution card 2"/>
          <p:cNvSpPr/>
          <p:nvPr/>
        </p:nvSpPr>
        <p:spPr>
          <a:xfrm>
            <a:off x="438912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Track"/>
          <p:cNvSpPr/>
          <p:nvPr/>
        </p:nvSpPr>
        <p:spPr>
          <a:xfrm>
            <a:off x="475488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2050" y="22288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5488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Track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Every complaint gets an ID. Enter it to see a time-stamped timeline of each stage, from submitted to resolved.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TRACK TAB</a:t>
            </a:r>
            <a:endParaRPr lang="en-US" sz="1100" dirty="0"/>
          </a:p>
        </p:txBody>
      </p:sp>
      <p:sp>
        <p:nvSpPr>
          <p:cNvPr id="15" name="Solution card 3"/>
          <p:cNvSpPr/>
          <p:nvPr/>
        </p:nvSpPr>
        <p:spPr>
          <a:xfrm>
            <a:off x="8138160" y="1645920"/>
            <a:ext cx="3383280" cy="42976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See everything"/>
          <p:cNvSpPr/>
          <p:nvPr/>
        </p:nvSpPr>
        <p:spPr>
          <a:xfrm>
            <a:off x="8503920" y="2011680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See everyth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090" y="2228850"/>
            <a:ext cx="434340" cy="4343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503920" y="3200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See everything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8503920" y="374904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public list with search and filters shows what is open and what is fixed. Neighbours can back an existing report.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503920" y="5486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ALL COMPLAINTS TAB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Issues it covers</a:t>
            </a:r>
            <a:endParaRPr lang="en-US" sz="3600" dirty="0"/>
          </a:p>
        </p:txBody>
      </p:sp>
      <p:sp>
        <p:nvSpPr>
          <p:cNvPr id="3" name="Category card Pothole"/>
          <p:cNvSpPr/>
          <p:nvPr/>
        </p:nvSpPr>
        <p:spPr>
          <a:xfrm>
            <a:off x="64008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 Pothole"/>
          <p:cNvSpPr/>
          <p:nvPr/>
        </p:nvSpPr>
        <p:spPr>
          <a:xfrm>
            <a:off x="96012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oth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1570" y="20916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920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Pothole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 days</a:t>
            </a:r>
            <a:endParaRPr lang="en-US" sz="2200" dirty="0"/>
          </a:p>
        </p:txBody>
      </p:sp>
      <p:sp>
        <p:nvSpPr>
          <p:cNvPr id="9" name="Category card Leaking pipeline"/>
          <p:cNvSpPr/>
          <p:nvPr/>
        </p:nvSpPr>
        <p:spPr>
          <a:xfrm>
            <a:off x="438912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Badge Leaking pipeline"/>
          <p:cNvSpPr/>
          <p:nvPr/>
        </p:nvSpPr>
        <p:spPr>
          <a:xfrm>
            <a:off x="470916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Leaking pipeli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209169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77840" y="1920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Leaking pipeline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70916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48 hours</a:t>
            </a:r>
            <a:endParaRPr lang="en-US" sz="2200" dirty="0"/>
          </a:p>
        </p:txBody>
      </p:sp>
      <p:sp>
        <p:nvSpPr>
          <p:cNvPr id="15" name="Category card Broken street light"/>
          <p:cNvSpPr/>
          <p:nvPr/>
        </p:nvSpPr>
        <p:spPr>
          <a:xfrm>
            <a:off x="813816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Badge Broken street light"/>
          <p:cNvSpPr/>
          <p:nvPr/>
        </p:nvSpPr>
        <p:spPr>
          <a:xfrm>
            <a:off x="8458200" y="19202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Broken street l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209169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326880" y="19202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Broken street light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58200" y="27432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971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 days</a:t>
            </a:r>
            <a:endParaRPr lang="en-US" sz="2200" dirty="0"/>
          </a:p>
        </p:txBody>
      </p:sp>
      <p:sp>
        <p:nvSpPr>
          <p:cNvPr id="21" name="Category card Waterlogging"/>
          <p:cNvSpPr/>
          <p:nvPr/>
        </p:nvSpPr>
        <p:spPr>
          <a:xfrm>
            <a:off x="640080" y="37033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Badge Waterlogging"/>
          <p:cNvSpPr/>
          <p:nvPr/>
        </p:nvSpPr>
        <p:spPr>
          <a:xfrm>
            <a:off x="960120" y="4023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Waterlogg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570" y="419481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82880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Waterlogging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96012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24 hours</a:t>
            </a:r>
            <a:endParaRPr lang="en-US" sz="2200" dirty="0"/>
          </a:p>
        </p:txBody>
      </p:sp>
      <p:sp>
        <p:nvSpPr>
          <p:cNvPr id="27" name="Category card Garbage overflow"/>
          <p:cNvSpPr/>
          <p:nvPr/>
        </p:nvSpPr>
        <p:spPr>
          <a:xfrm>
            <a:off x="4389120" y="37033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adge Garbage overflow"/>
          <p:cNvSpPr/>
          <p:nvPr/>
        </p:nvSpPr>
        <p:spPr>
          <a:xfrm>
            <a:off x="4709160" y="4023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4" descr="Garbage overflow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4194810"/>
            <a:ext cx="342900" cy="342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57784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Garbage overflow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470916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470916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48 hours</a:t>
            </a:r>
            <a:endParaRPr lang="en-US" sz="2200" dirty="0"/>
          </a:p>
        </p:txBody>
      </p:sp>
      <p:sp>
        <p:nvSpPr>
          <p:cNvPr id="33" name="Category card Other civic issue"/>
          <p:cNvSpPr/>
          <p:nvPr/>
        </p:nvSpPr>
        <p:spPr>
          <a:xfrm>
            <a:off x="8138160" y="3703320"/>
            <a:ext cx="33832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Badge Other civic issue"/>
          <p:cNvSpPr/>
          <p:nvPr/>
        </p:nvSpPr>
        <p:spPr>
          <a:xfrm>
            <a:off x="8458200" y="402336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5" descr="Other civic issu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9650" y="4194810"/>
            <a:ext cx="342900" cy="3429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326880" y="402336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Other civic issue</a:t>
            </a:r>
            <a:endParaRPr lang="en-US" sz="1900" dirty="0"/>
          </a:p>
        </p:txBody>
      </p:sp>
      <p:sp>
        <p:nvSpPr>
          <p:cNvPr id="37" name="Text 29"/>
          <p:cNvSpPr txBox="1"/>
          <p:nvPr/>
        </p:nvSpPr>
        <p:spPr>
          <a:xfrm>
            <a:off x="8458200" y="4846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3"/>
                </a:solidFill>
              </a:rPr>
              <a:t>TARGET FIX TIME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8458200" y="5074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 days</a:t>
            </a:r>
            <a:endParaRPr lang="en-US" sz="2200" dirty="0"/>
          </a:p>
        </p:txBody>
      </p:sp>
      <p:sp>
        <p:nvSpPr>
          <p:cNvPr id="39" name="Text 31"/>
          <p:cNvSpPr txBox="1"/>
          <p:nvPr/>
        </p:nvSpPr>
        <p:spPr>
          <a:xfrm>
            <a:off x="640080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Target fix times are portal defaults and can be tuned by each department.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a citizen uses it</a:t>
            </a:r>
            <a:endParaRPr lang="en-US" sz="3600" dirty="0"/>
          </a:p>
        </p:txBody>
      </p:sp>
      <p:sp>
        <p:nvSpPr>
          <p:cNvPr id="3" name="Flow connector"/>
          <p:cNvSpPr/>
          <p:nvPr/>
        </p:nvSpPr>
        <p:spPr>
          <a:xfrm>
            <a:off x="1051560" y="2148840"/>
            <a:ext cx="8421624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Step 1"/>
          <p:cNvSpPr/>
          <p:nvPr/>
        </p:nvSpPr>
        <p:spPr>
          <a:xfrm>
            <a:off x="640080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Report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3832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Pick the issue type, describe it, choose the ward and landmark, add a photo.</a:t>
            </a:r>
            <a:endParaRPr lang="en-US" sz="1600" dirty="0"/>
          </a:p>
        </p:txBody>
      </p:sp>
      <p:sp>
        <p:nvSpPr>
          <p:cNvPr id="8" name="Step 2"/>
          <p:cNvSpPr/>
          <p:nvPr/>
        </p:nvSpPr>
        <p:spPr>
          <a:xfrm>
            <a:off x="3447288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7288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Get an ID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447288" y="33832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portal confirms the complaint and shows its ID, for example CIV-2026-1041.</a:t>
            </a:r>
            <a:endParaRPr lang="en-US" sz="1600" dirty="0"/>
          </a:p>
        </p:txBody>
      </p:sp>
      <p:sp>
        <p:nvSpPr>
          <p:cNvPr id="12" name="Step 3"/>
          <p:cNvSpPr/>
          <p:nvPr/>
        </p:nvSpPr>
        <p:spPr>
          <a:xfrm>
            <a:off x="6254496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254496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Track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254496" y="33832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Enter the ID at any time to see which stage the complaint has reached.</a:t>
            </a:r>
            <a:endParaRPr lang="en-US" sz="1600" dirty="0"/>
          </a:p>
        </p:txBody>
      </p:sp>
      <p:sp>
        <p:nvSpPr>
          <p:cNvPr id="16" name="Step 4"/>
          <p:cNvSpPr/>
          <p:nvPr/>
        </p:nvSpPr>
        <p:spPr>
          <a:xfrm>
            <a:off x="9061704" y="173736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61704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61704" y="28346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Back others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9061704" y="338328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Press “I face this too” on an existing report instead of filing a duplicate.</a:t>
            </a:r>
            <a:endParaRPr lang="en-US" sz="1600" dirty="0"/>
          </a:p>
        </p:txBody>
      </p:sp>
      <p:sp>
        <p:nvSpPr>
          <p:cNvPr id="20" name="No login note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 No login needed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0" descr="No login need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91640" y="5074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No login needed. The complaint ID is the only thing a citizen has to keep.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Complaint lifecycle</a:t>
            </a:r>
            <a:endParaRPr lang="en-US" sz="3600" dirty="0"/>
          </a:p>
        </p:txBody>
      </p:sp>
      <p:sp>
        <p:nvSpPr>
          <p:cNvPr id="3" name="Lifecycle line"/>
          <p:cNvSpPr/>
          <p:nvPr/>
        </p:nvSpPr>
        <p:spPr>
          <a:xfrm>
            <a:off x="914400" y="2103120"/>
            <a:ext cx="8311896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4" name="Stage Submitted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CITIZEN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Submitted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The complaint is logged with an ID and a time stamp.</a:t>
            </a:r>
            <a:endParaRPr lang="en-US" sz="1600" dirty="0"/>
          </a:p>
        </p:txBody>
      </p:sp>
      <p:sp>
        <p:nvSpPr>
          <p:cNvPr id="8" name="Stage Acknowledged"/>
          <p:cNvSpPr/>
          <p:nvPr/>
        </p:nvSpPr>
        <p:spPr>
          <a:xfrm>
            <a:off x="3410712" y="1828800"/>
            <a:ext cx="548640" cy="54864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10712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WARD OFFICE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Acknowledged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An engineer is assigned and the citizen can see it.</a:t>
            </a:r>
            <a:endParaRPr lang="en-US" sz="1600" dirty="0"/>
          </a:p>
        </p:txBody>
      </p:sp>
      <p:sp>
        <p:nvSpPr>
          <p:cNvPr id="12" name="Stage In progress"/>
          <p:cNvSpPr/>
          <p:nvPr/>
        </p:nvSpPr>
        <p:spPr>
          <a:xfrm>
            <a:off x="6181344" y="1828800"/>
            <a:ext cx="548640" cy="5486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81344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FIELD CREW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181344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 progress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181344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crew is on site or materials are being arranged.</a:t>
            </a:r>
            <a:endParaRPr lang="en-US" sz="1600" dirty="0"/>
          </a:p>
        </p:txBody>
      </p:sp>
      <p:sp>
        <p:nvSpPr>
          <p:cNvPr id="16" name="Stage Resolved"/>
          <p:cNvSpPr/>
          <p:nvPr/>
        </p:nvSpPr>
        <p:spPr>
          <a:xfrm>
            <a:off x="8951976" y="1828800"/>
            <a:ext cx="548640" cy="54864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51976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WARD OFFICE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951976" y="3063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Resolved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951976" y="365760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Work is finished and the complaint is closed.</a:t>
            </a:r>
            <a:endParaRPr lang="en-US" sz="1600" dirty="0"/>
          </a:p>
        </p:txBody>
      </p:sp>
      <p:sp>
        <p:nvSpPr>
          <p:cNvPr id="20" name="History note"/>
          <p:cNvSpPr/>
          <p:nvPr/>
        </p:nvSpPr>
        <p:spPr>
          <a:xfrm>
            <a:off x="640080" y="5074920"/>
            <a:ext cx="10908792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Badge History"/>
          <p:cNvSpPr/>
          <p:nvPr/>
        </p:nvSpPr>
        <p:spPr>
          <a:xfrm>
            <a:off x="914400" y="5257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mage 0" descr="Histo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539496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691640" y="50749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change is time-stamped in the complaint history, so a citizen sees when each stage happened.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Key features</a:t>
            </a:r>
            <a:endParaRPr lang="en-US" sz="3600" dirty="0"/>
          </a:p>
        </p:txBody>
      </p:sp>
      <p:sp>
        <p:nvSpPr>
          <p:cNvPr id="3" name="Stats panel"/>
          <p:cNvSpPr/>
          <p:nvPr/>
        </p:nvSpPr>
        <p:spPr>
          <a:xfrm>
            <a:off x="640080" y="1600200"/>
            <a:ext cx="3840480" cy="452628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87452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205740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status stages from submitted to resolved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329184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</a:t>
            </a:r>
            <a:endParaRPr lang="en-US" sz="6400" dirty="0"/>
          </a:p>
        </p:txBody>
      </p:sp>
      <p:sp>
        <p:nvSpPr>
          <p:cNvPr id="7" name="Text 5"/>
          <p:cNvSpPr txBox="1"/>
          <p:nvPr/>
        </p:nvSpPr>
        <p:spPr>
          <a:xfrm>
            <a:off x="2057400" y="32918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issue categories with target fix times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70916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6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47091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screens: report, track, all complaints</a:t>
            </a:r>
            <a:endParaRPr lang="en-US" sz="1600" dirty="0"/>
          </a:p>
        </p:txBody>
      </p:sp>
      <p:sp>
        <p:nvSpPr>
          <p:cNvPr id="10" name="Badge Validated report form"/>
          <p:cNvSpPr/>
          <p:nvPr/>
        </p:nvSpPr>
        <p:spPr>
          <a:xfrm>
            <a:off x="4937760" y="169164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0" descr="Validated report 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780" y="1851660"/>
            <a:ext cx="320040" cy="32004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806440" y="1600200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Validated report form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Clear error messages appear next to each field.</a:t>
            </a:r>
            <a:endParaRPr lang="en-US" sz="1900" dirty="0"/>
          </a:p>
        </p:txBody>
      </p:sp>
      <p:sp>
        <p:nvSpPr>
          <p:cNvPr id="13" name="Badge Photo upload"/>
          <p:cNvSpPr/>
          <p:nvPr/>
        </p:nvSpPr>
        <p:spPr>
          <a:xfrm>
            <a:off x="4937760" y="26243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mage 1" descr="Photo uplo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278434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06440" y="2532888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Photo upload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Photos are resized in the browser before saving.</a:t>
            </a:r>
            <a:endParaRPr lang="en-US" sz="1900" dirty="0"/>
          </a:p>
        </p:txBody>
      </p:sp>
      <p:sp>
        <p:nvSpPr>
          <p:cNvPr id="16" name="Badge Search and filter"/>
          <p:cNvSpPr/>
          <p:nvPr/>
        </p:nvSpPr>
        <p:spPr>
          <a:xfrm>
            <a:off x="4937760" y="3557016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Search and filt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780" y="3717036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806440" y="3465576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Search and filter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Find complaints by ID, landmark, status or category.</a:t>
            </a:r>
            <a:endParaRPr lang="en-US" sz="1900" dirty="0"/>
          </a:p>
        </p:txBody>
      </p:sp>
      <p:sp>
        <p:nvSpPr>
          <p:cNvPr id="19" name="Badge Community support"/>
          <p:cNvSpPr/>
          <p:nvPr/>
        </p:nvSpPr>
        <p:spPr>
          <a:xfrm>
            <a:off x="4937760" y="448970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Community suppo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4649724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06440" y="4398264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Community support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Neighbours press “I face this too” to raise priority.</a:t>
            </a:r>
            <a:endParaRPr lang="en-US" sz="1900" dirty="0"/>
          </a:p>
        </p:txBody>
      </p:sp>
      <p:sp>
        <p:nvSpPr>
          <p:cNvPr id="22" name="Badge Works on any screen"/>
          <p:cNvSpPr/>
          <p:nvPr/>
        </p:nvSpPr>
        <p:spPr>
          <a:xfrm>
            <a:off x="4937760" y="5422392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4" descr="Works on any scre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5582412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806440" y="5330952"/>
            <a:ext cx="57424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Works on any screen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Responsive layout with light and dark themes.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Technology stack</a:t>
            </a:r>
            <a:endParaRPr lang="en-US" sz="3600" dirty="0"/>
          </a:p>
        </p:txBody>
      </p:sp>
      <p:sp>
        <p:nvSpPr>
          <p:cNvPr id="3" name="Layer label Interface"/>
          <p:cNvSpPr/>
          <p:nvPr/>
        </p:nvSpPr>
        <p:spPr>
          <a:xfrm>
            <a:off x="640080" y="160020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Badge Interface"/>
          <p:cNvSpPr/>
          <p:nvPr/>
        </p:nvSpPr>
        <p:spPr>
          <a:xfrm>
            <a:off x="868680" y="17830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nterf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19316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0020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Interface</a:t>
            </a:r>
            <a:endParaRPr lang="en-US" sz="2200" dirty="0"/>
          </a:p>
        </p:txBody>
      </p:sp>
      <p:sp>
        <p:nvSpPr>
          <p:cNvPr id="7" name="Layer detail Interface"/>
          <p:cNvSpPr/>
          <p:nvPr/>
        </p:nvSpPr>
        <p:spPr>
          <a:xfrm>
            <a:off x="3931920" y="1600200"/>
            <a:ext cx="761695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251960" y="160020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HTML5 and CSS3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Grid and flexbox layout, CSS variables for light and dark themes.</a:t>
            </a:r>
            <a:endParaRPr lang="en-US" sz="1900" dirty="0"/>
          </a:p>
        </p:txBody>
      </p:sp>
      <p:sp>
        <p:nvSpPr>
          <p:cNvPr id="9" name="Layer label Logic"/>
          <p:cNvSpPr/>
          <p:nvPr/>
        </p:nvSpPr>
        <p:spPr>
          <a:xfrm>
            <a:off x="640080" y="269748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Badge Logic"/>
          <p:cNvSpPr/>
          <p:nvPr/>
        </p:nvSpPr>
        <p:spPr>
          <a:xfrm>
            <a:off x="868680" y="288036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Logi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02895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645920" y="269748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Logic</a:t>
            </a:r>
            <a:endParaRPr lang="en-US" sz="2200" dirty="0"/>
          </a:p>
        </p:txBody>
      </p:sp>
      <p:sp>
        <p:nvSpPr>
          <p:cNvPr id="13" name="Layer detail Logic"/>
          <p:cNvSpPr/>
          <p:nvPr/>
        </p:nvSpPr>
        <p:spPr>
          <a:xfrm>
            <a:off x="3931920" y="2697480"/>
            <a:ext cx="761695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251960" y="269748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Vanilla JavaScript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 framework. Validation, filtering, ID generation and status changes.</a:t>
            </a:r>
            <a:endParaRPr lang="en-US" sz="1900" dirty="0"/>
          </a:p>
        </p:txBody>
      </p:sp>
      <p:sp>
        <p:nvSpPr>
          <p:cNvPr id="15" name="Layer label Storage"/>
          <p:cNvSpPr/>
          <p:nvPr/>
        </p:nvSpPr>
        <p:spPr>
          <a:xfrm>
            <a:off x="640080" y="379476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Badge Storage"/>
          <p:cNvSpPr/>
          <p:nvPr/>
        </p:nvSpPr>
        <p:spPr>
          <a:xfrm>
            <a:off x="868680" y="39776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Stor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12623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794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Storage</a:t>
            </a:r>
            <a:endParaRPr lang="en-US" sz="2200" dirty="0"/>
          </a:p>
        </p:txBody>
      </p:sp>
      <p:sp>
        <p:nvSpPr>
          <p:cNvPr id="19" name="Layer detail Storage"/>
          <p:cNvSpPr/>
          <p:nvPr/>
        </p:nvSpPr>
        <p:spPr>
          <a:xfrm>
            <a:off x="3931920" y="3794760"/>
            <a:ext cx="761695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251960" y="379476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Browser localStorage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Complaints are saved as JSON on the device. A backend replaces this next.</a:t>
            </a:r>
            <a:endParaRPr lang="en-US" sz="1900" dirty="0"/>
          </a:p>
        </p:txBody>
      </p:sp>
      <p:sp>
        <p:nvSpPr>
          <p:cNvPr id="21" name="Layer label Media"/>
          <p:cNvSpPr/>
          <p:nvPr/>
        </p:nvSpPr>
        <p:spPr>
          <a:xfrm>
            <a:off x="640080" y="4892040"/>
            <a:ext cx="3108960" cy="960120"/>
          </a:xfrm>
          <a:prstGeom prst="roundRect">
            <a:avLst>
              <a:gd name="adj" fmla="val 9524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Badge Media"/>
          <p:cNvSpPr/>
          <p:nvPr/>
        </p:nvSpPr>
        <p:spPr>
          <a:xfrm>
            <a:off x="868680" y="5074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Medi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223510"/>
            <a:ext cx="297180" cy="2971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45920" y="489204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Media</a:t>
            </a:r>
            <a:endParaRPr lang="en-US" sz="2200" dirty="0"/>
          </a:p>
        </p:txBody>
      </p:sp>
      <p:sp>
        <p:nvSpPr>
          <p:cNvPr id="25" name="Layer detail Media"/>
          <p:cNvSpPr/>
          <p:nvPr/>
        </p:nvSpPr>
        <p:spPr>
          <a:xfrm>
            <a:off x="3931920" y="4892040"/>
            <a:ext cx="7616952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251960" y="4892040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Canvas API</a:t>
            </a:r>
            <a:endParaRPr lang="en-US" sz="19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Resizes uploaded photos to 800 px JPEG before saving.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Complaint record</a:t>
            </a:r>
            <a:endParaRPr lang="en-US" sz="3600" dirty="0"/>
          </a:p>
        </p:txBody>
      </p:sp>
      <p:graphicFrame>
        <p:nvGraphicFramePr>
          <p:cNvPr id="10" name="Complaint recor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572000"/>
                <a:gridCol w="36850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Field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Holds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Unique complaint ID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CIV-2026-1041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 of six issue types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pothole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title, desc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the problem is and how bad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Deep pothole near the bus stop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ward, landmark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Where to send the crew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Ward 12 - Station Road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photo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Optional picture, 800 px JPEG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 URL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lifecycle stage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progress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history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Time-stamped stage changes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submitted, ack, progress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votes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Count of “I face this too”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23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4114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From prototype to product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PROTOTYPE TODAY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93992" y="1508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PRODUCTION NEXT</a:t>
            </a:r>
            <a:endParaRPr lang="en-US" sz="1200" dirty="0"/>
          </a:p>
        </p:txBody>
      </p:sp>
      <p:sp>
        <p:nvSpPr>
          <p:cNvPr id="5" name="Today 1"/>
          <p:cNvSpPr/>
          <p:nvPr/>
        </p:nvSpPr>
        <p:spPr>
          <a:xfrm>
            <a:off x="640080" y="1920240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20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Complaints stay in one browser</a:t>
            </a:r>
            <a:endParaRPr lang="en-US" sz="1700" dirty="0"/>
          </a:p>
        </p:txBody>
      </p:sp>
      <p:sp>
        <p:nvSpPr>
          <p:cNvPr id="7" name="Arrow 1"/>
          <p:cNvSpPr/>
          <p:nvPr/>
        </p:nvSpPr>
        <p:spPr>
          <a:xfrm>
            <a:off x="5715000" y="2148840"/>
            <a:ext cx="7772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Next 1"/>
          <p:cNvSpPr/>
          <p:nvPr/>
        </p:nvSpPr>
        <p:spPr>
          <a:xfrm>
            <a:off x="6793992" y="1920240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68312" y="1920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Shared backend and database for everyone</a:t>
            </a:r>
            <a:endParaRPr lang="en-US" sz="1700" dirty="0"/>
          </a:p>
        </p:txBody>
      </p:sp>
      <p:sp>
        <p:nvSpPr>
          <p:cNvPr id="10" name="Today 2"/>
          <p:cNvSpPr/>
          <p:nvPr/>
        </p:nvSpPr>
        <p:spPr>
          <a:xfrm>
            <a:off x="640080" y="2944368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9443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Location typed as ward and landmark</a:t>
            </a:r>
            <a:endParaRPr lang="en-US" sz="1700" dirty="0"/>
          </a:p>
        </p:txBody>
      </p:sp>
      <p:sp>
        <p:nvSpPr>
          <p:cNvPr id="12" name="Arrow 2"/>
          <p:cNvSpPr/>
          <p:nvPr/>
        </p:nvSpPr>
        <p:spPr>
          <a:xfrm>
            <a:off x="5715000" y="3172968"/>
            <a:ext cx="7772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ext 2"/>
          <p:cNvSpPr/>
          <p:nvPr/>
        </p:nvSpPr>
        <p:spPr>
          <a:xfrm>
            <a:off x="6793992" y="2944368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68312" y="2944368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GPS pin and map view</a:t>
            </a:r>
            <a:endParaRPr lang="en-US" sz="1700" dirty="0"/>
          </a:p>
        </p:txBody>
      </p:sp>
      <p:sp>
        <p:nvSpPr>
          <p:cNvPr id="15" name="Today 3"/>
          <p:cNvSpPr/>
          <p:nvPr/>
        </p:nvSpPr>
        <p:spPr>
          <a:xfrm>
            <a:off x="640080" y="3968496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6849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demo button moves the status</a:t>
            </a:r>
            <a:endParaRPr lang="en-US" sz="1700" dirty="0"/>
          </a:p>
        </p:txBody>
      </p:sp>
      <p:sp>
        <p:nvSpPr>
          <p:cNvPr id="17" name="Arrow 3"/>
          <p:cNvSpPr/>
          <p:nvPr/>
        </p:nvSpPr>
        <p:spPr>
          <a:xfrm>
            <a:off x="5715000" y="4197096"/>
            <a:ext cx="7772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ext 3"/>
          <p:cNvSpPr/>
          <p:nvPr/>
        </p:nvSpPr>
        <p:spPr>
          <a:xfrm>
            <a:off x="6793992" y="3968496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68312" y="3968496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Officer login and work dashboard</a:t>
            </a:r>
            <a:endParaRPr lang="en-US" sz="1700" dirty="0"/>
          </a:p>
        </p:txBody>
      </p:sp>
      <p:sp>
        <p:nvSpPr>
          <p:cNvPr id="20" name="Today 4"/>
          <p:cNvSpPr/>
          <p:nvPr/>
        </p:nvSpPr>
        <p:spPr>
          <a:xfrm>
            <a:off x="640080" y="4992624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9926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No alerts to the citizen</a:t>
            </a:r>
            <a:endParaRPr lang="en-US" sz="1700" dirty="0"/>
          </a:p>
        </p:txBody>
      </p:sp>
      <p:sp>
        <p:nvSpPr>
          <p:cNvPr id="22" name="Arrow 4"/>
          <p:cNvSpPr/>
          <p:nvPr/>
        </p:nvSpPr>
        <p:spPr>
          <a:xfrm>
            <a:off x="5715000" y="5221224"/>
            <a:ext cx="777240" cy="41148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ext 4"/>
          <p:cNvSpPr/>
          <p:nvPr/>
        </p:nvSpPr>
        <p:spPr>
          <a:xfrm>
            <a:off x="6793992" y="4992624"/>
            <a:ext cx="4754880" cy="868680"/>
          </a:xfrm>
          <a:prstGeom prst="roundRect">
            <a:avLst>
              <a:gd name="adj" fmla="val 1052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68312" y="4992624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SMS and email on every stage change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5508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25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173736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Report it. Track it.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See it fixed.</a:t>
            </a:r>
            <a:endParaRPr lang="en-US" sz="4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406908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Questions and feedback are welcome.</a:t>
            </a:r>
            <a:endParaRPr lang="en-US" sz="2000" dirty="0"/>
          </a:p>
        </p:txBody>
      </p:sp>
      <p:sp>
        <p:nvSpPr>
          <p:cNvPr id="5" name="Complaint card"/>
          <p:cNvSpPr/>
          <p:nvPr/>
        </p:nvSpPr>
        <p:spPr>
          <a:xfrm>
            <a:off x="7223760" y="1737360"/>
            <a:ext cx="4297680" cy="3383280"/>
          </a:xfrm>
          <a:prstGeom prst="roundRect">
            <a:avLst>
              <a:gd name="adj" fmla="val 405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5895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CIV-2026-1041</a:t>
            </a:r>
            <a:endParaRPr lang="en-US" sz="1300" dirty="0"/>
          </a:p>
        </p:txBody>
      </p:sp>
      <p:sp>
        <p:nvSpPr>
          <p:cNvPr id="7" name="Status pill"/>
          <p:cNvSpPr/>
          <p:nvPr/>
        </p:nvSpPr>
        <p:spPr>
          <a:xfrm>
            <a:off x="9966960" y="2066544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accent5">
              <a:alpha val="1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66960" y="206654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Resolved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26060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 pothole near the bus stop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3520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Ward 12 · Station Road</a:t>
            </a:r>
            <a:endParaRPr lang="en-US" sz="1400" dirty="0"/>
          </a:p>
        </p:txBody>
      </p:sp>
      <p:sp>
        <p:nvSpPr>
          <p:cNvPr id="11" name="Timeline line"/>
          <p:cNvSpPr/>
          <p:nvPr/>
        </p:nvSpPr>
        <p:spPr>
          <a:xfrm>
            <a:off x="7818120" y="4251960"/>
            <a:ext cx="3017520" cy="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</a:ln>
        </p:spPr>
      </p:sp>
      <p:sp>
        <p:nvSpPr>
          <p:cNvPr id="12" name="Stage dot 1"/>
          <p:cNvSpPr/>
          <p:nvPr/>
        </p:nvSpPr>
        <p:spPr>
          <a:xfrm>
            <a:off x="7690104" y="412394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4" name="Stage dot 2"/>
          <p:cNvSpPr/>
          <p:nvPr/>
        </p:nvSpPr>
        <p:spPr>
          <a:xfrm>
            <a:off x="8695944" y="412394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Acknowledged</a:t>
            </a:r>
            <a:endParaRPr lang="en-US" sz="1100" dirty="0"/>
          </a:p>
        </p:txBody>
      </p:sp>
      <p:sp>
        <p:nvSpPr>
          <p:cNvPr id="16" name="Stage dot 3"/>
          <p:cNvSpPr/>
          <p:nvPr/>
        </p:nvSpPr>
        <p:spPr>
          <a:xfrm>
            <a:off x="9701784" y="4123944"/>
            <a:ext cx="256032" cy="256032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In progress</a:t>
            </a:r>
            <a:endParaRPr lang="en-US" sz="1100" dirty="0"/>
          </a:p>
        </p:txBody>
      </p:sp>
      <p:sp>
        <p:nvSpPr>
          <p:cNvPr id="18" name="Stage dot 4"/>
          <p:cNvSpPr/>
          <p:nvPr/>
        </p:nvSpPr>
        <p:spPr>
          <a:xfrm>
            <a:off x="10707624" y="4123944"/>
            <a:ext cx="256032" cy="256032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32720" y="4480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Resolved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 Asphalt">
  <a:themeElements>
    <a:clrScheme name="Civic Asphalt">
      <a:dk1>
        <a:srgbClr val="1F2A33"/>
      </a:dk1>
      <a:lt1>
        <a:srgbClr val="FFFFFF"/>
      </a:lt1>
      <a:dk2>
        <a:srgbClr val="3B4A57"/>
      </a:dk2>
      <a:lt2>
        <a:srgbClr val="EEF1F4"/>
      </a:lt2>
      <a:accent1>
        <a:srgbClr val="F2B300"/>
      </a:accent1>
      <a:accent2>
        <a:srgbClr val="1D4ED8"/>
      </a:accent2>
      <a:accent3>
        <a:srgbClr val="566475"/>
      </a:accent3>
      <a:accent4>
        <a:srgbClr val="8A5200"/>
      </a:accent4>
      <a:accent5>
        <a:srgbClr val="0F6B3C"/>
      </a:accent5>
      <a:accent6>
        <a:srgbClr val="B3261E"/>
      </a:accent6>
      <a:hlink>
        <a:srgbClr val="1D4ED8"/>
      </a:hlink>
      <a:folHlink>
        <a:srgbClr val="566475"/>
      </a:folHlink>
    </a:clrScheme>
    <a:fontScheme name="Civic Asphal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 Issue Reporting Portal</dc:title>
  <dc:subject>Project presentation</dc:subject>
  <dc:creator>PptxGenJS</dc:creator>
  <cp:lastModifiedBy>PptxGenJS</cp:lastModifiedBy>
  <cp:revision>1</cp:revision>
  <dcterms:created xsi:type="dcterms:W3CDTF">2026-10-15T14:55:25Z</dcterms:created>
  <dcterms:modified xsi:type="dcterms:W3CDTF">2026-10-15T14:55:25Z</dcterms:modified>
</cp:coreProperties>
</file>